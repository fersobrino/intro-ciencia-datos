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71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">
          <p15:clr>
            <a:srgbClr val="A4A3A4"/>
          </p15:clr>
        </p15:guide>
        <p15:guide id="2" pos="7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gFDYCEKtTOzjVDpaqY7k6a3b9T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>
        <p:guide orient="horz" pos="187"/>
        <p:guide pos="7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Dirección de Investigación y Vinculación de Negocios</a:t>
            </a:r>
            <a:endParaRPr/>
          </a:p>
        </p:txBody>
      </p:sp>
      <p:sp>
        <p:nvSpPr>
          <p:cNvPr id="62" name="Google Shape;6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ea917319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fea917319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061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9484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043458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087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363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33395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AECD1-2C26-C74E-BF09-E588AFBA2FC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3645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79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525346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383737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480638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1185862" y="318435"/>
            <a:ext cx="75009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body" idx="1"/>
          </p:nvPr>
        </p:nvSpPr>
        <p:spPr>
          <a:xfrm>
            <a:off x="1185862" y="1600200"/>
            <a:ext cx="750093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Char char="–"/>
              <a:defRPr>
                <a:solidFill>
                  <a:srgbClr val="595959"/>
                </a:solidFill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–"/>
              <a:defRPr>
                <a:solidFill>
                  <a:srgbClr val="595959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»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013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C4085-693E-1B43-B9FB-181B2C3D2056}" type="datetimeFigureOut">
              <a:rPr lang="en-MX" smtClean="0"/>
              <a:t>13/11/23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363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tech.nitoyon.com/en/blog/2013/11/07/k-means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naftaliharris.com/blog/visualizing-dbscan-cluster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Arial"/>
              <a:buNone/>
            </a:pPr>
            <a:endParaRPr sz="3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Arial"/>
              <a:buNone/>
            </a:pPr>
            <a:endParaRPr sz="3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1138366" y="2507116"/>
            <a:ext cx="6862634" cy="519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s-ES" sz="3600" dirty="0"/>
              <a:t>Aprendizaje No Supervisado: Agrupamiento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 dirty="0"/>
              <a:t>Aprendizaje No Supervisado</a:t>
            </a:r>
            <a:endParaRPr dirty="0"/>
          </a:p>
        </p:txBody>
      </p:sp>
      <p:sp>
        <p:nvSpPr>
          <p:cNvPr id="76" name="Google Shape;76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1185862" y="1795734"/>
            <a:ext cx="4582800" cy="3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0" i="0" u="none" strike="noStrike" cap="none">
                <a:solidFill>
                  <a:srgbClr val="441848"/>
                </a:solidFill>
                <a:latin typeface="Montserrat"/>
                <a:ea typeface="Montserrat"/>
                <a:cs typeface="Montserrat"/>
                <a:sym typeface="Montserrat"/>
              </a:rPr>
              <a:t>Recordemos el modelo básico de aprendizaje supervisado,</a:t>
            </a: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0" i="0" u="none" strike="noStrike" cap="none">
                <a:solidFill>
                  <a:srgbClr val="441848"/>
                </a:solidFill>
                <a:latin typeface="Montserrat"/>
                <a:ea typeface="Montserrat"/>
                <a:cs typeface="Montserrat"/>
                <a:sym typeface="Montserrat"/>
              </a:rPr>
              <a:t> Entrenado con un dataset de entrenamiento, </a:t>
            </a: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0" i="0" u="none" strike="noStrike" cap="none">
                <a:solidFill>
                  <a:srgbClr val="441848"/>
                </a:solidFill>
                <a:latin typeface="Montserrat"/>
                <a:ea typeface="Montserrat"/>
                <a:cs typeface="Montserrat"/>
                <a:sym typeface="Montserrat"/>
              </a:rPr>
              <a:t>tal que</a:t>
            </a: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" name="Google Shape;78;p3" descr="y^* = f(x) + \epsilon" title="MathEquation,#000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5789" y="2760459"/>
            <a:ext cx="2922600" cy="5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 descr="y^* \approx y_{true}" title="MathEquation,#0000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5796" y="5095059"/>
            <a:ext cx="2453090" cy="6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" descr="\{(x_1, y_1)\, (x_2, y_2),\ldots ,(x_n, y_n)\}" title="MathEquation,#0000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95787" y="4289684"/>
            <a:ext cx="4884500" cy="439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3"/>
          <p:cNvCxnSpPr/>
          <p:nvPr/>
        </p:nvCxnSpPr>
        <p:spPr>
          <a:xfrm>
            <a:off x="6084037" y="1769884"/>
            <a:ext cx="0" cy="230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" name="Google Shape;82;p3"/>
          <p:cNvCxnSpPr/>
          <p:nvPr/>
        </p:nvCxnSpPr>
        <p:spPr>
          <a:xfrm>
            <a:off x="5920256" y="3940659"/>
            <a:ext cx="276654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3"/>
          <p:cNvSpPr/>
          <p:nvPr/>
        </p:nvSpPr>
        <p:spPr>
          <a:xfrm>
            <a:off x="6396462" y="1830834"/>
            <a:ext cx="190500" cy="1857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701262" y="1907034"/>
            <a:ext cx="190500" cy="1857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625062" y="2211834"/>
            <a:ext cx="190500" cy="1857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320262" y="2364234"/>
            <a:ext cx="190500" cy="1857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082262" y="2211834"/>
            <a:ext cx="190500" cy="1857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701262" y="2592834"/>
            <a:ext cx="190500" cy="1857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234662" y="3507234"/>
            <a:ext cx="190500" cy="1857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463262" y="3659634"/>
            <a:ext cx="190500" cy="1857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539462" y="3050034"/>
            <a:ext cx="190500" cy="1857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844262" y="3507234"/>
            <a:ext cx="190500" cy="1857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7844262" y="3050034"/>
            <a:ext cx="190500" cy="1857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929862" y="3583434"/>
            <a:ext cx="190500" cy="1857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3"/>
          <p:cNvCxnSpPr/>
          <p:nvPr/>
        </p:nvCxnSpPr>
        <p:spPr>
          <a:xfrm rot="10800000" flipH="1">
            <a:off x="6221212" y="1922209"/>
            <a:ext cx="2103000" cy="1767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fea9173198_0_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Aprendizaje No Supervisado</a:t>
            </a:r>
            <a:endParaRPr/>
          </a:p>
        </p:txBody>
      </p:sp>
      <p:sp>
        <p:nvSpPr>
          <p:cNvPr id="102" name="Google Shape;102;gfea9173198_0_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  <p:sp>
        <p:nvSpPr>
          <p:cNvPr id="101" name="Google Shape;101;gfea9173198_0_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endParaRPr/>
          </a:p>
        </p:txBody>
      </p:sp>
      <p:cxnSp>
        <p:nvCxnSpPr>
          <p:cNvPr id="103" name="Google Shape;103;gfea9173198_0_18"/>
          <p:cNvCxnSpPr/>
          <p:nvPr/>
        </p:nvCxnSpPr>
        <p:spPr>
          <a:xfrm>
            <a:off x="5934365" y="2310797"/>
            <a:ext cx="0" cy="230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" name="Google Shape;104;gfea9173198_0_18"/>
          <p:cNvCxnSpPr/>
          <p:nvPr/>
        </p:nvCxnSpPr>
        <p:spPr>
          <a:xfrm>
            <a:off x="5757705" y="4520522"/>
            <a:ext cx="2459016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gfea9173198_0_18"/>
          <p:cNvSpPr/>
          <p:nvPr/>
        </p:nvSpPr>
        <p:spPr>
          <a:xfrm>
            <a:off x="6246790" y="23717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fea9173198_0_18"/>
          <p:cNvSpPr/>
          <p:nvPr/>
        </p:nvSpPr>
        <p:spPr>
          <a:xfrm>
            <a:off x="6551590" y="24479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fea9173198_0_18"/>
          <p:cNvSpPr/>
          <p:nvPr/>
        </p:nvSpPr>
        <p:spPr>
          <a:xfrm>
            <a:off x="6475390" y="27527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fea9173198_0_18"/>
          <p:cNvSpPr/>
          <p:nvPr/>
        </p:nvSpPr>
        <p:spPr>
          <a:xfrm>
            <a:off x="6170590" y="29051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fea9173198_0_18"/>
          <p:cNvSpPr/>
          <p:nvPr/>
        </p:nvSpPr>
        <p:spPr>
          <a:xfrm>
            <a:off x="6932590" y="27527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fea9173198_0_18"/>
          <p:cNvSpPr/>
          <p:nvPr/>
        </p:nvSpPr>
        <p:spPr>
          <a:xfrm>
            <a:off x="6551590" y="31337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fea9173198_0_18"/>
          <p:cNvSpPr/>
          <p:nvPr/>
        </p:nvSpPr>
        <p:spPr>
          <a:xfrm>
            <a:off x="7084990" y="40481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fea9173198_0_18"/>
          <p:cNvSpPr/>
          <p:nvPr/>
        </p:nvSpPr>
        <p:spPr>
          <a:xfrm>
            <a:off x="7313590" y="42005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fea9173198_0_18"/>
          <p:cNvSpPr/>
          <p:nvPr/>
        </p:nvSpPr>
        <p:spPr>
          <a:xfrm>
            <a:off x="7389790" y="35909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fea9173198_0_18"/>
          <p:cNvSpPr/>
          <p:nvPr/>
        </p:nvSpPr>
        <p:spPr>
          <a:xfrm>
            <a:off x="7694590" y="40481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fea9173198_0_18"/>
          <p:cNvSpPr/>
          <p:nvPr/>
        </p:nvSpPr>
        <p:spPr>
          <a:xfrm>
            <a:off x="7694590" y="35909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fea9173198_0_18"/>
          <p:cNvSpPr/>
          <p:nvPr/>
        </p:nvSpPr>
        <p:spPr>
          <a:xfrm>
            <a:off x="6780190" y="4124347"/>
            <a:ext cx="190500" cy="185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fea9173198_0_18"/>
          <p:cNvSpPr/>
          <p:nvPr/>
        </p:nvSpPr>
        <p:spPr>
          <a:xfrm>
            <a:off x="6018190" y="2120297"/>
            <a:ext cx="1318200" cy="1280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fea9173198_0_18"/>
          <p:cNvSpPr/>
          <p:nvPr/>
        </p:nvSpPr>
        <p:spPr>
          <a:xfrm>
            <a:off x="6551590" y="3430922"/>
            <a:ext cx="1558200" cy="10896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fea9173198_0_18"/>
          <p:cNvSpPr txBox="1"/>
          <p:nvPr/>
        </p:nvSpPr>
        <p:spPr>
          <a:xfrm>
            <a:off x="1036190" y="2336647"/>
            <a:ext cx="4582800" cy="3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0" i="0" u="none" strike="noStrike" cap="none">
                <a:solidFill>
                  <a:srgbClr val="441848"/>
                </a:solidFill>
                <a:latin typeface="Montserrat"/>
                <a:ea typeface="Montserrat"/>
                <a:cs typeface="Montserrat"/>
                <a:sym typeface="Montserrat"/>
              </a:rPr>
              <a:t>Set de entrenamiento:</a:t>
            </a: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0" i="0" u="none" strike="noStrike" cap="none">
                <a:solidFill>
                  <a:srgbClr val="441848"/>
                </a:solidFill>
                <a:latin typeface="Montserrat"/>
                <a:ea typeface="Montserrat"/>
                <a:cs typeface="Montserrat"/>
                <a:sym typeface="Montserrat"/>
              </a:rPr>
              <a:t>Ya no hay testing set.</a:t>
            </a: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gfea9173198_0_18" descr="\{x_1, x_2, \ldots,x_n\}" title="MathEquation,#000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365" y="2909097"/>
            <a:ext cx="3681160" cy="6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Aprendizaje No Supervisado</a:t>
            </a: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167950" y="2162881"/>
            <a:ext cx="2621400" cy="826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Agrupamiento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172950" y="2162881"/>
            <a:ext cx="2621400" cy="826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Detección de Anomalías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293925" y="2162881"/>
            <a:ext cx="2621400" cy="826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Reducción de la Dimensionalidad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71006"/>
            <a:ext cx="2957299" cy="16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24025" y="3668131"/>
            <a:ext cx="3203200" cy="147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0625" y="3357381"/>
            <a:ext cx="2052950" cy="20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327700" y="5518031"/>
            <a:ext cx="230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Segmentación de Clientes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3332700" y="5518031"/>
            <a:ext cx="230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Detección de Fraudes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453675" y="5410331"/>
            <a:ext cx="230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Análisis de Componentes Principales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Agrupamiento</a:t>
            </a:r>
            <a:endParaRPr/>
          </a:p>
        </p:txBody>
      </p:sp>
      <p:sp>
        <p:nvSpPr>
          <p:cNvPr id="141" name="Google Shape;141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560424" y="2134755"/>
            <a:ext cx="7952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Análisis de Agrupamientos: Proceso de particionamiento de un conjunto de datos (u observaciones) en subconjuntos. Cada subconjunto es un grupo o cluster.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474949" y="3398730"/>
            <a:ext cx="2323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Los datos en un mismo cluster deben ser similares entre sí.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6362999" y="4851730"/>
            <a:ext cx="2323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Los datos de diferentes clusters deben ser diferentes entre sí.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8749" y="3282830"/>
            <a:ext cx="3586851" cy="240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Métricas de Distancia</a:t>
            </a:r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2376" y="1837329"/>
            <a:ext cx="5619248" cy="414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Técnicas de Clustering</a:t>
            </a:r>
            <a:endParaRPr/>
          </a:p>
        </p:txBody>
      </p:sp>
      <p:sp>
        <p:nvSpPr>
          <p:cNvPr id="158" name="Google Shape;158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705048" y="2668848"/>
            <a:ext cx="24561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Partitioning Clustering</a:t>
            </a:r>
            <a:endParaRPr sz="1400" b="1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Dado un número de particiones k a construir, un método particional crear una partición inicial. Usualmente los métodos particionales se basan en la distancia.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8448" y="2194323"/>
            <a:ext cx="477202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/>
        </p:nvSpPr>
        <p:spPr>
          <a:xfrm>
            <a:off x="5710561" y="5413773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K Means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Técnicas de Clustering</a:t>
            </a:r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63380" y="2372635"/>
            <a:ext cx="2456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Hierarchical Clustering</a:t>
            </a:r>
            <a:endParaRPr sz="1400" b="1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Estos métodos crean una descomposición jerárquica de un conjunto de datos.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7080" y="2372635"/>
            <a:ext cx="5755324" cy="279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Técnicas de Clustering</a:t>
            </a:r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57200" y="2372634"/>
            <a:ext cx="24561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Density-Based Clustering</a:t>
            </a:r>
            <a:endParaRPr sz="1400" b="1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idea general es continuar creciendo un cluster dado tanto como la densidad (número de puntos) en su vecindario exceda un límite.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0900" y="2372634"/>
            <a:ext cx="5755324" cy="247140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462713" y="5117559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DBSCAN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Técnicas de Clustering</a:t>
            </a:r>
            <a:endParaRPr/>
          </a:p>
        </p:txBody>
      </p:sp>
      <p:sp>
        <p:nvSpPr>
          <p:cNvPr id="184" name="Google Shape;184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628" y="1655612"/>
            <a:ext cx="7084743" cy="4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K-Means</a:t>
            </a:r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57201" y="2858092"/>
            <a:ext cx="3853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Centroide es utilizado para representar a un cluster. Conceptualmente, es su punto central (e.g. promedio de los puntos).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1401" y="2124692"/>
            <a:ext cx="4334946" cy="35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412351" y="4204442"/>
            <a:ext cx="3942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¿Cómo medimos qué tan alejado está un punto dado a un centroide?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K-Means</a:t>
            </a:r>
            <a:endParaRPr/>
          </a:p>
        </p:txBody>
      </p:sp>
      <p:sp>
        <p:nvSpPr>
          <p:cNvPr id="200" name="Google Shape;200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  <p:pic>
        <p:nvPicPr>
          <p:cNvPr id="201" name="Google Shape;20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840" y="2163142"/>
            <a:ext cx="5047801" cy="30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0065" y="2053067"/>
            <a:ext cx="3491500" cy="34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K-Means</a:t>
            </a:r>
            <a:endParaRPr/>
          </a:p>
        </p:txBody>
      </p:sp>
      <p:sp>
        <p:nvSpPr>
          <p:cNvPr id="208" name="Google Shape;208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  <p:pic>
        <p:nvPicPr>
          <p:cNvPr id="209" name="Google Shape;20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158" y="2019953"/>
            <a:ext cx="8600719" cy="4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K-Means</a:t>
            </a:r>
            <a:endParaRPr/>
          </a:p>
        </p:txBody>
      </p:sp>
      <p:sp>
        <p:nvSpPr>
          <p:cNvPr id="215" name="Google Shape;21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pic>
        <p:nvPicPr>
          <p:cNvPr id="216" name="Google Shape;2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019636"/>
            <a:ext cx="8839199" cy="4106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K-Means: Randomized Initialization</a:t>
            </a:r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  <p:pic>
        <p:nvPicPr>
          <p:cNvPr id="223" name="Google Shape;2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2266" y="2035025"/>
            <a:ext cx="6687249" cy="32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5"/>
          <p:cNvSpPr txBox="1"/>
          <p:nvPr/>
        </p:nvSpPr>
        <p:spPr>
          <a:xfrm>
            <a:off x="646041" y="5449425"/>
            <a:ext cx="634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¡Puede converger en un mínimo local!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K-Means: Randomized Initialization</a:t>
            </a:r>
            <a:endParaRPr/>
          </a:p>
        </p:txBody>
      </p:sp>
      <p:sp>
        <p:nvSpPr>
          <p:cNvPr id="230" name="Google Shape;230;p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646041" y="5449425"/>
            <a:ext cx="634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¡Puede converger en un mínimo local!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2" name="Google Shape;23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68160"/>
            <a:ext cx="8839201" cy="31586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64635F-6DC1-344B-27BE-FBBFB94EA783}"/>
              </a:ext>
            </a:extLst>
          </p:cNvPr>
          <p:cNvSpPr txBox="1"/>
          <p:nvPr/>
        </p:nvSpPr>
        <p:spPr>
          <a:xfrm>
            <a:off x="1021462" y="5987618"/>
            <a:ext cx="6598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Simulación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http://tech.nitoyon.com/en/blog/2013/11/07/k-means/</a:t>
            </a:r>
            <a:r>
              <a:rPr lang="en-US" dirty="0"/>
              <a:t> </a:t>
            </a:r>
            <a:endParaRPr lang="en-MX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024675"/>
            <a:ext cx="5041750" cy="28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1751" y="1552826"/>
            <a:ext cx="3645051" cy="3542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K-Medoids</a:t>
            </a:r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713" y="1964550"/>
            <a:ext cx="7194576" cy="349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Clustering Jerárquico</a:t>
            </a:r>
            <a:endParaRPr/>
          </a:p>
        </p:txBody>
      </p:sp>
      <p:sp>
        <p:nvSpPr>
          <p:cNvPr id="247" name="Google Shape;247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1" y="1606100"/>
            <a:ext cx="2951977" cy="414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610925"/>
            <a:ext cx="9144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8802" y="2189850"/>
            <a:ext cx="5734822" cy="258501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Clustering Jerárquico Aglomerativo</a:t>
            </a:r>
            <a:endParaRPr/>
          </a:p>
        </p:txBody>
      </p:sp>
      <p:sp>
        <p:nvSpPr>
          <p:cNvPr id="256" name="Google Shape;256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1438" y="1727250"/>
            <a:ext cx="5701126" cy="4143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Matriz de Distancias</a:t>
            </a:r>
            <a:endParaRPr/>
          </a:p>
        </p:txBody>
      </p:sp>
      <p:sp>
        <p:nvSpPr>
          <p:cNvPr id="263" name="Google Shape;263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2626" y="1727251"/>
            <a:ext cx="5458749" cy="4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Clustering Linkage</a:t>
            </a:r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101" y="1672201"/>
            <a:ext cx="8324145" cy="4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Single Link Structure</a:t>
            </a:r>
            <a:endParaRPr/>
          </a:p>
        </p:txBody>
      </p:sp>
      <p:sp>
        <p:nvSpPr>
          <p:cNvPr id="277" name="Google Shape;277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26" y="1661176"/>
            <a:ext cx="8187605" cy="4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2D5"/>
              </a:buClr>
              <a:buSzPts val="3200"/>
              <a:buFont typeface="Arial"/>
              <a:buNone/>
            </a:pPr>
            <a:r>
              <a:rPr lang="es-ES"/>
              <a:t>Complete Link Structure</a:t>
            </a:r>
            <a:endParaRPr/>
          </a:p>
        </p:txBody>
      </p:sp>
      <p:sp>
        <p:nvSpPr>
          <p:cNvPr id="284" name="Google Shape;284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/>
        </p:nvSpPr>
        <p:spPr>
          <a:xfrm>
            <a:off x="203800" y="718175"/>
            <a:ext cx="8579700" cy="1222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2E92D5"/>
                </a:solidFill>
                <a:latin typeface="Arial"/>
                <a:ea typeface="Arial"/>
                <a:cs typeface="Arial"/>
                <a:sym typeface="Arial"/>
              </a:rPr>
              <a:t>Density-Based Spatial Clustering of Application with Noise (DBSCAN)</a:t>
            </a:r>
            <a:endParaRPr sz="3200" b="1" i="0" u="none" strike="noStrike" cap="none">
              <a:solidFill>
                <a:srgbClr val="2E92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>
              <a:solidFill>
                <a:srgbClr val="44184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484600" y="2222975"/>
            <a:ext cx="80181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DBSCAN finds </a:t>
            </a:r>
            <a:r>
              <a:rPr lang="es-ES" sz="1400" b="0" i="1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core objects</a:t>
            </a:r>
            <a:r>
              <a:rPr lang="es-ES" sz="14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, that is, objects that have dense neighborhoods. It connects core objects and their neighborhoods to form dense regions as clusters.</a:t>
            </a: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La densidad de un vecindario se mide con el número de datos/objetos en él.</a:t>
            </a: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1" name="Google Shape;29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6114" y="2876251"/>
            <a:ext cx="5515075" cy="264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/>
        </p:nvSpPr>
        <p:spPr>
          <a:xfrm>
            <a:off x="377100" y="1014925"/>
            <a:ext cx="85797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2E92D5"/>
                </a:solidFill>
                <a:latin typeface="Arial"/>
                <a:ea typeface="Arial"/>
                <a:cs typeface="Arial"/>
                <a:sym typeface="Arial"/>
              </a:rPr>
              <a:t>DBSCAN Concepts</a:t>
            </a:r>
            <a:endParaRPr sz="3200" b="1" i="0" u="none" strike="noStrike" cap="none">
              <a:solidFill>
                <a:srgbClr val="2E92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2E92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2E92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9251" y="1628125"/>
            <a:ext cx="3815407" cy="414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/>
          <p:nvPr/>
        </p:nvSpPr>
        <p:spPr>
          <a:xfrm>
            <a:off x="377100" y="1014925"/>
            <a:ext cx="85797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2E92D5"/>
                </a:solidFill>
                <a:latin typeface="Arial"/>
                <a:ea typeface="Arial"/>
                <a:cs typeface="Arial"/>
                <a:sym typeface="Arial"/>
              </a:rPr>
              <a:t>DBSCAN </a:t>
            </a:r>
            <a:endParaRPr sz="3200" b="1" i="0" u="none" strike="noStrike" cap="none">
              <a:solidFill>
                <a:srgbClr val="2E92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2E92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2E92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705226"/>
            <a:ext cx="4025808" cy="4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0608" y="1705226"/>
            <a:ext cx="4660992" cy="3778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 txBox="1"/>
          <p:nvPr/>
        </p:nvSpPr>
        <p:spPr>
          <a:xfrm>
            <a:off x="377100" y="1014925"/>
            <a:ext cx="85797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2E92D5"/>
                </a:solidFill>
                <a:latin typeface="Arial"/>
                <a:ea typeface="Arial"/>
                <a:cs typeface="Arial"/>
                <a:sym typeface="Arial"/>
              </a:rPr>
              <a:t>DBSCAN </a:t>
            </a:r>
            <a:endParaRPr sz="3200" b="1" i="0" u="none" strike="noStrike" cap="none">
              <a:solidFill>
                <a:srgbClr val="2E92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2E92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2E92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825" y="1714500"/>
            <a:ext cx="65722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43F416-D8EB-ABE1-506A-8D0ED8E421BB}"/>
              </a:ext>
            </a:extLst>
          </p:cNvPr>
          <p:cNvSpPr txBox="1"/>
          <p:nvPr/>
        </p:nvSpPr>
        <p:spPr>
          <a:xfrm>
            <a:off x="1021462" y="5987618"/>
            <a:ext cx="7592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Simulación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https://www.naftaliharris.com/blog/visualizing-dbscan-clustering/</a:t>
            </a:r>
            <a:endParaRPr lang="en-MX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398</Words>
  <Application>Microsoft Macintosh PowerPoint</Application>
  <PresentationFormat>On-screen Show (4:3)</PresentationFormat>
  <Paragraphs>99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Avenir</vt:lpstr>
      <vt:lpstr>Calibri</vt:lpstr>
      <vt:lpstr>Calibri Light</vt:lpstr>
      <vt:lpstr>Helvetica Neue</vt:lpstr>
      <vt:lpstr>Montserrat</vt:lpstr>
      <vt:lpstr>Nunito</vt:lpstr>
      <vt:lpstr>Office Theme</vt:lpstr>
      <vt:lpstr>PowerPoint Presentation</vt:lpstr>
      <vt:lpstr>Aprendizaje No Supervisado</vt:lpstr>
      <vt:lpstr>Aprendizaje No Supervisado</vt:lpstr>
      <vt:lpstr>Aprendizaje No Supervisado</vt:lpstr>
      <vt:lpstr>Agrupamiento</vt:lpstr>
      <vt:lpstr>Métricas de Distancia</vt:lpstr>
      <vt:lpstr>Técnicas de Clustering</vt:lpstr>
      <vt:lpstr>Técnicas de Clustering</vt:lpstr>
      <vt:lpstr>Técnicas de Clustering</vt:lpstr>
      <vt:lpstr>Técnicas de Clustering</vt:lpstr>
      <vt:lpstr>K-Means</vt:lpstr>
      <vt:lpstr>K-Means</vt:lpstr>
      <vt:lpstr>K-Means</vt:lpstr>
      <vt:lpstr>K-Means</vt:lpstr>
      <vt:lpstr>K-Means: Randomized Initialization</vt:lpstr>
      <vt:lpstr>K-Means: Randomized Initialization</vt:lpstr>
      <vt:lpstr>K-Medoids</vt:lpstr>
      <vt:lpstr>Clustering Jerárquico</vt:lpstr>
      <vt:lpstr>Clustering Jerárquico Aglomerativo</vt:lpstr>
      <vt:lpstr>Matriz de Distancias</vt:lpstr>
      <vt:lpstr>Clustering Linkage</vt:lpstr>
      <vt:lpstr>Single Link Structure</vt:lpstr>
      <vt:lpstr>Complete Link Structure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Rox! Camargo</dc:creator>
  <cp:lastModifiedBy>Gonzalo Peraza</cp:lastModifiedBy>
  <cp:revision>4</cp:revision>
  <dcterms:created xsi:type="dcterms:W3CDTF">2012-03-21T15:52:56Z</dcterms:created>
  <dcterms:modified xsi:type="dcterms:W3CDTF">2023-11-13T18:27:34Z</dcterms:modified>
</cp:coreProperties>
</file>